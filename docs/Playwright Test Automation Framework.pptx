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Poppi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  <p:embeddedFont>
      <p:font typeface="Inter ExtraBold"/>
      <p:bold r:id="rId30"/>
      <p:boldItalic r:id="rId31"/>
    </p:embeddedFont>
    <p:embeddedFont>
      <p:font typeface="Poppins SemiBold"/>
      <p:regular r:id="rId32"/>
      <p:bold r:id="rId33"/>
      <p:italic r:id="rId34"/>
      <p:boldItalic r:id="rId35"/>
    </p:embeddedFont>
    <p:embeddedFont>
      <p:font typeface="Inter Medium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106E57-2E71-49AD-B301-8B426B826843}">
  <a:tblStyle styleId="{A6106E57-2E71-49AD-B301-8B426B8268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Poppins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Inter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ExtraBold-boldItalic.fntdata"/><Relationship Id="rId30" Type="http://schemas.openxmlformats.org/officeDocument/2006/relationships/font" Target="fonts/InterExtraBold-bold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italic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.fntdata"/><Relationship Id="rId14" Type="http://schemas.openxmlformats.org/officeDocument/2006/relationships/slide" Target="slides/slide8.xml"/><Relationship Id="rId36" Type="http://schemas.openxmlformats.org/officeDocument/2006/relationships/font" Target="fonts/InterMedium-regular.fntdata"/><Relationship Id="rId17" Type="http://schemas.openxmlformats.org/officeDocument/2006/relationships/slide" Target="slides/slide11.xml"/><Relationship Id="rId39" Type="http://schemas.openxmlformats.org/officeDocument/2006/relationships/font" Target="fonts/InterMedium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Medium-italic.fntdata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2.png"/><Relationship Id="rId5" Type="http://schemas.openxmlformats.org/officeDocument/2006/relationships/image" Target="../media/image27.png"/><Relationship Id="rId6" Type="http://schemas.openxmlformats.org/officeDocument/2006/relationships/image" Target="../media/image4.png"/><Relationship Id="rId7" Type="http://schemas.openxmlformats.org/officeDocument/2006/relationships/image" Target="../media/image10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16.png"/><Relationship Id="rId7" Type="http://schemas.openxmlformats.org/officeDocument/2006/relationships/image" Target="../media/image33.png"/><Relationship Id="rId8" Type="http://schemas.openxmlformats.org/officeDocument/2006/relationships/image" Target="../media/image2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3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2.png"/><Relationship Id="rId9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31.png"/><Relationship Id="rId7" Type="http://schemas.openxmlformats.org/officeDocument/2006/relationships/image" Target="../media/image24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37.png"/><Relationship Id="rId6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9.png"/><Relationship Id="rId6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3050" y="4202310"/>
            <a:ext cx="9105900" cy="1400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15402" y="1255514"/>
            <a:ext cx="956119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SOFTWARE TESTING (CS-403)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15402" y="1798439"/>
            <a:ext cx="9561195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Spree Commerce Storefront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End-to-End Test Automation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543050" y="3329880"/>
            <a:ext cx="91059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 Medium"/>
                <a:ea typeface="Inter Medium"/>
                <a:cs typeface="Inter Medium"/>
                <a:sym typeface="Inter Medium"/>
              </a:rPr>
              <a:t>Highly Maintainable and Data-Driven Playwright Automation Framework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100262" y="4497585"/>
            <a:ext cx="3248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Presenters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100262" y="4850010"/>
            <a:ext cx="32480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M. Umer Ahmed Abbasi (22K-4599)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Jawwad Ahmed (22K-4648)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462712" y="4497585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Instructor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462712" y="4850010"/>
            <a:ext cx="1247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Sir Haris Irfan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8824912" y="4497585"/>
            <a:ext cx="1266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824912" y="4850010"/>
            <a:ext cx="1266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June 15,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2112"/>
            <a:ext cx="5334000" cy="2733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662112"/>
            <a:ext cx="5334000" cy="443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14400" y="20050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Mission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14400" y="2547937"/>
            <a:ext cx="464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a clean, scalable, and modular test automation framework adhering to industry best practices and high design standards.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" y="3605212"/>
            <a:ext cx="4648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Spree Storefront (React/E-Commerce)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20050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Deliverables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058025" y="25574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 Journeys: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Seamless flow from login to checkout.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058025" y="33575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Flakiness Control: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Smart dynamic wait conditions.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058025" y="41576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Rich Reporting: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Dashboards with traces &amp; screenshots.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058025" y="49577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Data-Driven: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Decoupling data from script logic.</a:t>
            </a:r>
            <a:endParaRPr/>
          </a:p>
        </p:txBody>
      </p:sp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2595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3956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41957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499586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PROJECT OBJECTIVES &amp; GOALS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733550"/>
            <a:ext cx="533400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71500" y="1733550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Separation of Concerns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991100"/>
            <a:ext cx="5334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000125" y="22860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Inputs &amp; Helpers: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Configuration, environment files, JSON test data, and Winston logger utilities.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0125" y="30861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Execution Flow: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Playwright CLI runner executing 43 modular spec scripts efficiently.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1000125" y="38862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POM &amp; Reporting: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Page Object Model wrappers for clean interactions and Allure HTML report generation.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242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243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FRAMEWORK ARCHITECTURE OVERVIEW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15" title="automation_framework_diagr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2525" y="1292450"/>
            <a:ext cx="5177974" cy="517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0712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890712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890712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71500" y="542448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organization ensures high maintainability and low technical debt across the automation lifecycle.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94225" y="293846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Core Config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66775" y="34813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config/ &amp; data/: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Environment managers and external JSON datasets (Users, Products, Checkout).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572524" y="293846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Logic Layer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45074" y="34813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pages/ &amp; fixtures/: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Enforcing POM design pattern and dynamic injection of page instances.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8350824" y="293846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Utilities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423374" y="348138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utils/ &amp; tests/: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43 spec scripts and helpers for parsing, logging, and smart waiting.</a:t>
            </a:r>
            <a:endParaRPr/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23361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2336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45699" y="22336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DETAILED MODULAR FOLDER STRUCTURE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2212"/>
            <a:ext cx="5334000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462212"/>
            <a:ext cx="53340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914400" y="28051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Inheritance Model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6629400" y="2805112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 Action Wrappers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629400" y="3348037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 methods (click, fill, waitFor) perform actionability checks before execution.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629400" y="4100512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Benefit:</a:t>
            </a:r>
            <a:r>
              <a:rPr b="0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Eliminates flakiness by avoiding hardcoded sleep timeouts.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4157662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343025" y="33575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BasePage.js: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Centralized wrapper for raw Playwright interactions.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1343025" y="4157662"/>
            <a:ext cx="42195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Child Pages: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LoginPage, CartPage, etc. inherit from BasePage.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3956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4195762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THE PAGE OBJECT MODEL (POM) LAYER</a:t>
            </a:r>
            <a:endParaRPr/>
          </a:p>
        </p:txBody>
      </p:sp>
      <p:sp>
        <p:nvSpPr>
          <p:cNvPr id="169" name="Google Shape;169;p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6286500" y="2405062"/>
            <a:ext cx="56007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Decoupled Data Logic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715125" y="29575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JSON Storage: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External files for credentials, products, coupons, and forms.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715125" y="37576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Dynamic Loading: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DataParser.js enables running the same script with multiple datasets.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715125" y="4557712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Coverage: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Validates both positive and negative functional assertions.</a:t>
            </a:r>
            <a:endParaRPr/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99561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37957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4595812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DATA-DRIVEN AUTOMATION STRATEGY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57425"/>
            <a:ext cx="3492549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794225" y="33051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Custom Fixtures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66775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testSetup.js auto-injects page instances into tests, removing manual instantiations like 'new LoginPage()'.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4572524" y="33051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Global Hooks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46450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globalSetup.js verifies environment readiness and network availability before test suite launch.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8350824" y="3305175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Lifecycle Care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423374" y="3848100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beforeEach / afterEach manages cookie clearing, screenshot capturing, and trace log flushing automatically.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6003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38825" y="260032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17124" y="2600325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ADVANCED SETUP AND TEARDOWN HOOKS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/>
          <p:nvPr/>
        </p:nvSpPr>
        <p:spPr>
          <a:xfrm>
            <a:off x="571500" y="1590675"/>
            <a:ext cx="11049000" cy="3943350"/>
          </a:xfrm>
          <a:prstGeom prst="roundRect">
            <a:avLst>
              <a:gd fmla="val 0" name="adj"/>
            </a:avLst>
          </a:prstGeom>
          <a:solidFill>
            <a:srgbClr val="1E293B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571500" y="15906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{A6106E57-2E71-49AD-B301-8B426B826843}</a:tableStyleId>
              </a:tblPr>
              <a:tblGrid>
                <a:gridCol w="2946350"/>
                <a:gridCol w="2187775"/>
                <a:gridCol w="5914875"/>
              </a:tblGrid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Script Category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TC ID Range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Functional Coverage Area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login.spec.js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TC-01 to TC-10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Authentication, validation, and error handling.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productSearch.spec.js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TC-11 to TC-20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Search algorithms, suggestions, and cart sync.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checkout.spec.js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TC-21 to TC-30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Payment rules, shipping forms, and order success.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nonFunctional.spec.js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TC-41 to TC-42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Responsiveness (Desktop vs Mobile viewports).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e2e.spec.js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TC-43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 Path: End-to-End Customer Journey.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571500" y="5724525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TOTAL: 43 Automated Test Scenarios Implemented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571500" y="2233612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517850" y="2233612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5705623" y="2233612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" y="2890837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517850" y="2890837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705623" y="2890837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571500" y="3548062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517850" y="3548062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705623" y="3548062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71500" y="4205287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517850" y="4205287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705623" y="4205287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71500" y="4862512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3517850" y="4862512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5705623" y="4862512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71500" y="5519737"/>
            <a:ext cx="29463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517850" y="5519737"/>
            <a:ext cx="218777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705623" y="5519737"/>
            <a:ext cx="59148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COMPREHENSIVE TEST SUITE COVERAGE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571500" y="1390650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DIAGNOSTICS &amp; LOGGING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000125" y="30670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Winston Logger: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Structured, colorized timestamp logs for terminal and persistent files.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1000125" y="38671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Screenshot Utility: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Captures UI state during key checkpoints or failures.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1000125" y="4667250"/>
            <a:ext cx="452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Reporting Link: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Dynamic embedding of visual evidence into the test report.</a:t>
            </a:r>
            <a:endParaRPr/>
          </a:p>
        </p:txBody>
      </p:sp>
      <p:pic>
        <p:nvPicPr>
          <p:cNvPr descr="image.png" id="240" name="Google Shape;24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51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052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05350"/>
            <a:ext cx="2857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2055494" y="1327844"/>
            <a:ext cx="808101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Rich Interactive Reporting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2286000" y="2185094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Allure Report provides a comprehensive HTML dashboard summarizing pass/fail metrics, execution stability, and deep-dive traceability.</a:t>
            </a:r>
            <a:endParaRPr/>
          </a:p>
        </p:txBody>
      </p:sp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52750" y="410125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2105025" y="4482256"/>
            <a:ext cx="2076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Assertion Traceability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4101256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057775" y="4482256"/>
            <a:ext cx="2076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Auto-Embedded Screenshots</a:t>
            </a:r>
            <a:endParaRPr/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82062" y="4101256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8010525" y="4482256"/>
            <a:ext cx="2076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Performance Metrics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571500" y="2624137"/>
            <a:ext cx="38671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43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3957637"/>
            <a:ext cx="386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BBF24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SCENARIOS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5200650" y="952500"/>
            <a:ext cx="6740842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CONCLUSION &amp; FUTURE SCOPE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010150" y="952500"/>
            <a:ext cx="57150" cy="123825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4844891" y="5010150"/>
            <a:ext cx="694086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BBF2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THANK YOU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5010150" y="5457825"/>
            <a:ext cx="6610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Questions? | bcs8a-testing-group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438775" y="2628900"/>
            <a:ext cx="6181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Milestone: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Exceeded the 40-case requirement with 100% clean, non-flaky execution.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5438775" y="3429000"/>
            <a:ext cx="6181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Robustness: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POM structure ensures minimal maintenance for future UI updates.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5438775" y="4229100"/>
            <a:ext cx="6181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Future: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Integration with GitHub Actions for full CI/CD parallelization.</a:t>
            </a:r>
            <a:endParaRPr/>
          </a:p>
        </p:txBody>
      </p:sp>
      <p:pic>
        <p:nvPicPr>
          <p:cNvPr descr="image.png" id="270" name="Google Shape;27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10150" y="26670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10150" y="3467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0150" y="42672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